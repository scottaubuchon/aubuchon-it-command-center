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73152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175" y="365760"/>
            <a:ext cx="2560320" cy="6079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400" b="1" i="0">
                <a:solidFill>
                  <a:srgbClr val="1E1E1E"/>
                </a:solidFill>
                <a:latin typeface="Trebuchet MS"/>
              </a:rPr>
              <a:t>Loss Prevention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0" i="0">
                <a:solidFill>
                  <a:srgbClr val="01683F"/>
                </a:solidFill>
                <a:latin typeface="Trebuchet MS"/>
              </a:rPr>
              <a:t>Design Concepts &amp; YODA-Style Mockups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Three visual treatments for Aubuchon's new LP scorecard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</a:rPr>
              <a:t>Prepared for Scott Aubuchon  ·  April 15, 2026  ·  Sample data: week of Apr 5-11,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82512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rebuchet MS"/>
              </a:rPr>
              <a:t>AUBUCHON COMPANY  ·  YODA  ·  Loss Prevention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36576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E1E1E"/>
                </a:solidFill>
                <a:latin typeface="Trebuchet MS"/>
              </a:rPr>
              <a:t>Starting point: the mockup you 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Requirements pulled from LP Dashboard visuals.xlsx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623560" cy="411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73152" cy="411480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1683F"/>
                </a:solidFill>
                <a:latin typeface="Trebuchet MS"/>
              </a:rPr>
              <a:t>5 KPI columns (all with tier comparison)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F58220"/>
                </a:solidFill>
                <a:latin typeface="Trebuchet M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920240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Trebuchet MS"/>
              </a:rPr>
              <a:t>Shrink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94560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A5A5A"/>
                </a:solidFill>
                <a:latin typeface="Calibri"/>
              </a:rPr>
              <a:t>% of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60320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F58220"/>
                </a:solidFill>
                <a:latin typeface="Trebuchet M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60320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Trebuchet MS"/>
              </a:rPr>
              <a:t>Overrides &amp; Discounts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834640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A5A5A"/>
                </a:solidFill>
                <a:latin typeface="Calibri"/>
              </a:rPr>
              <a:t>% of 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00400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F58220"/>
                </a:solidFill>
                <a:latin typeface="Trebuchet M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200400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Trebuchet MS"/>
              </a:rPr>
              <a:t>Coupons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474720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A5A5A"/>
                </a:solidFill>
                <a:latin typeface="Calibri"/>
              </a:rPr>
              <a:t>% of 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40480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F58220"/>
                </a:solidFill>
                <a:latin typeface="Trebuchet M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40480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Trebuchet MS"/>
              </a:rPr>
              <a:t>Employee Discount $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14800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A5A5A"/>
                </a:solidFill>
                <a:latin typeface="Calibri"/>
              </a:rPr>
              <a:t>% of sales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80560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F58220"/>
                </a:solidFill>
                <a:latin typeface="Trebuchet M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480560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Trebuchet MS"/>
              </a:rPr>
              <a:t>Everything Else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754880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A5A5A"/>
                </a:solidFill>
                <a:latin typeface="Calibri"/>
              </a:rPr>
              <a:t>% of retail  AND  % of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234440"/>
            <a:ext cx="5440680" cy="411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1234440"/>
            <a:ext cx="73152" cy="4114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371600"/>
            <a:ext cx="51663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1E1E1E"/>
                </a:solidFill>
                <a:latin typeface="Trebuchet MS"/>
              </a:rPr>
              <a:t>Plus three operational features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1965960"/>
            <a:ext cx="228600" cy="22860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192024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1920240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Trebuchet MS"/>
              </a:rPr>
              <a:t>Reason codes for shrink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194560"/>
            <a:ext cx="452628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</a:rPr>
              <a:t>Each shrink adjustment is tagged with a reason code + description, drillable to transaction.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017520"/>
            <a:ext cx="228600" cy="22860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297180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2971800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Trebuchet MS"/>
              </a:rPr>
              <a:t>Reason codes for overrides/discounts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246120"/>
            <a:ext cx="452628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</a:rPr>
              <a:t>Same treatment - tie every override/discount dollar to a code the store manager can defend.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4069080"/>
            <a:ext cx="228600" cy="22860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402336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023360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Trebuchet MS"/>
              </a:rPr>
              <a:t>POS self-checkout policing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297680"/>
            <a:ext cx="452628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</a:rPr>
              <a:t>Flag transactions where the operator is also the customer (employee disc, override on own ring).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A5A5A"/>
                </a:solidFill>
                <a:latin typeface="Calibri"/>
              </a:rPr>
              <a:t>All three mockups deliver the 5 KPI columns + tier comparison + zebra formatting you specified, plus surface the three operational features as visible UI.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Source: LP Dashboard visuals.xlsx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45775" y="644652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LP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36576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E1E1E"/>
                </a:solidFill>
                <a:latin typeface="Trebuchet MS"/>
              </a:rPr>
              <a:t>Matching YODA's visual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What we pulled forward from the Store Manager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706624" cy="10972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2432304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Black KPI header row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2706624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2340864" cy="31089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</a:rPr>
              <a:t>Selected KPI tile inverts to black/white; unselected tiles are light gray. Matches YODA's 'Sales vs Plan / Sales vs LY' row.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5264" y="1371600"/>
            <a:ext cx="2706624" cy="109728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783080"/>
            <a:ext cx="2432304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Variance triangles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55264" y="2468880"/>
            <a:ext cx="2706624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2606040"/>
            <a:ext cx="2340864" cy="31089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</a:rPr>
              <a:t>Green up for favorable, Red down for unfavorable, gray dot for flat. Shown beside each comparison value.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1371600"/>
            <a:ext cx="2706624" cy="1097280"/>
          </a:xfrm>
          <a:prstGeom prst="rect">
            <a:avLst/>
          </a:prstGeom>
          <a:solidFill>
            <a:srgbClr val="B8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1783080"/>
            <a:ext cx="2432304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1E1E1E"/>
                </a:solidFill>
                <a:latin typeface="Trebuchet MS"/>
              </a:rPr>
              <a:t>Conditional variance cells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3328" y="2468880"/>
            <a:ext cx="2706624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2606040"/>
            <a:ext cx="2340864" cy="31089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</a:rPr>
              <a:t>Green fill for favorable, pink/red for unfavorable against tier benchmark. Same as YODA's 'Sales vs Plan' difference cells.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51392" y="1371600"/>
            <a:ext cx="2706624" cy="10972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1783080"/>
            <a:ext cx="2432304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Dense, right-aligned numbers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51392" y="2468880"/>
            <a:ext cx="2706624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4272" y="2606040"/>
            <a:ext cx="2340864" cy="31089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</a:rPr>
              <a:t>Tabular-nums font, alternating-row zebra stripe, black column headers, no chart junk.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978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A5A5A"/>
                </a:solidFill>
                <a:latin typeface="Calibri"/>
              </a:rPr>
              <a:t>All three variants share these tokens - the difference is in how the data is arranged around them.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Design tokens inspired by YODA Store Dashboard v3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5775" y="644652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LP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36576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E1E1E"/>
                </a:solidFill>
                <a:latin typeface="Trebuchet MS"/>
              </a:rPr>
              <a:t>Variant A - YODA KPI Tabs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Five black KPI tiles up top (one selected). Scrollable per-store table below. Reason codes + self-checkout panels at the bottom.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74552" cy="5074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2172614" cy="960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90472"/>
            <a:ext cx="1989734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Calibri"/>
              </a:rPr>
              <a:t>SHRINK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1989734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rebuchet MS"/>
              </a:rPr>
              <a:t>0.55%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03120"/>
            <a:ext cx="1989734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Calibri"/>
              </a:rPr>
              <a:t>Tier 0.50%   up +0.05pt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94406" y="1417320"/>
            <a:ext cx="217261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5846" y="1490472"/>
            <a:ext cx="1989734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A5A5A"/>
                </a:solidFill>
                <a:latin typeface="Calibri"/>
              </a:rPr>
              <a:t>OVERRIDES &amp; DISC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5846" y="1691640"/>
            <a:ext cx="1989734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1E1E1E"/>
                </a:solidFill>
                <a:latin typeface="Trebuchet MS"/>
              </a:rPr>
              <a:t>1.90%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5846" y="2103120"/>
            <a:ext cx="1989734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alibri"/>
              </a:rPr>
              <a:t>vs Tier benchmark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94452" y="1417320"/>
            <a:ext cx="217261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5892" y="1490472"/>
            <a:ext cx="1989734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A5A5A"/>
                </a:solidFill>
                <a:latin typeface="Calibri"/>
              </a:rPr>
              <a:t>COUPONS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5892" y="1691640"/>
            <a:ext cx="1989734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1E1E1E"/>
                </a:solidFill>
                <a:latin typeface="Trebuchet MS"/>
              </a:rPr>
              <a:t>0.81%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5892" y="2103120"/>
            <a:ext cx="1989734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alibri"/>
              </a:rPr>
              <a:t>vs Tier benchmark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94499" y="1417320"/>
            <a:ext cx="217261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5939" y="1490472"/>
            <a:ext cx="1989734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A5A5A"/>
                </a:solidFill>
                <a:latin typeface="Calibri"/>
              </a:rPr>
              <a:t>EMPLOYEE DISC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5939" y="1691640"/>
            <a:ext cx="1989734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1E1E1E"/>
                </a:solidFill>
                <a:latin typeface="Trebuchet MS"/>
              </a:rPr>
              <a:t>0.34%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5939" y="2103120"/>
            <a:ext cx="1989734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alibri"/>
              </a:rPr>
              <a:t>vs Tier benchmark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94545" y="1417320"/>
            <a:ext cx="217261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85985" y="1490472"/>
            <a:ext cx="1989734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A5A5A"/>
                </a:solidFill>
                <a:latin typeface="Calibri"/>
              </a:rPr>
              <a:t>OTHER (%RETAIL)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5985" y="1691640"/>
            <a:ext cx="1989734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1E1E1E"/>
                </a:solidFill>
                <a:latin typeface="Trebuchet MS"/>
              </a:rPr>
              <a:t>0.65%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5985" y="2103120"/>
            <a:ext cx="1989734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alibri"/>
              </a:rPr>
              <a:t>vs Tier benchmark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2560320"/>
            <a:ext cx="11000232" cy="2560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596896"/>
            <a:ext cx="1283589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5109" y="2596896"/>
            <a:ext cx="1283589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90138" y="2596896"/>
            <a:ext cx="1283589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Sales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5167" y="2596896"/>
            <a:ext cx="1283589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Shrink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0196" y="2596896"/>
            <a:ext cx="1283589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O&amp;D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5225" y="2596896"/>
            <a:ext cx="1283589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Coupon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0254" y="2596896"/>
            <a:ext cx="1283589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Emp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65283" y="2596896"/>
            <a:ext cx="1283589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Other %Ret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2816352"/>
            <a:ext cx="11000232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28437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#1 Fitchburg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5109" y="28437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T6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90138" y="28437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$23,927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65167" y="28437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0.62%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40196" y="28437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2.04%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15225" y="28437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0.88%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0254" y="28437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0.44%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65283" y="28437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0.70%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3044952"/>
            <a:ext cx="11000232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30723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#3 Meredith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15109" y="30723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T4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90138" y="30723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$36,107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37735" y="3063240"/>
            <a:ext cx="1338453" cy="192024"/>
          </a:xfrm>
          <a:prstGeom prst="rect">
            <a:avLst/>
          </a:prstGeom>
          <a:solidFill>
            <a:srgbClr val="DF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65167" y="30723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0.28%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40196" y="30723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2.04%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15225" y="30723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0.77%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0254" y="30723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0.31%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65283" y="30723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0.68%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" y="3273552"/>
            <a:ext cx="11000232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33009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#4 Gardner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15109" y="33009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T3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90138" y="33009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$68,788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65167" y="33009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0.54%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12764" y="3291840"/>
            <a:ext cx="1338453" cy="192024"/>
          </a:xfrm>
          <a:prstGeom prst="rect">
            <a:avLst/>
          </a:prstGeom>
          <a:solidFill>
            <a:srgbClr val="F8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40196" y="33009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2.21%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15225" y="33009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0.90%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90254" y="33009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0.33%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65283" y="33009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0.53%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4360" y="3502152"/>
            <a:ext cx="11000232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35295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#7 Tewksbury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15109" y="35295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T5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90138" y="35295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$44,907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737735" y="3520440"/>
            <a:ext cx="1338453" cy="192024"/>
          </a:xfrm>
          <a:prstGeom prst="rect">
            <a:avLst/>
          </a:prstGeom>
          <a:solidFill>
            <a:srgbClr val="DF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65167" y="35295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0.40%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40196" y="35295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2.09%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87793" y="3520440"/>
            <a:ext cx="1338453" cy="192024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15225" y="35295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1.09%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90254" y="35295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0.35%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65283" y="35295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0.66%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4360" y="3730752"/>
            <a:ext cx="11000232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" y="37581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#8 Clinton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15109" y="37581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T5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90138" y="37581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$38,722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65167" y="37581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0.68%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12764" y="3749040"/>
            <a:ext cx="1338453" cy="192024"/>
          </a:xfrm>
          <a:prstGeom prst="rect">
            <a:avLst/>
          </a:prstGeom>
          <a:solidFill>
            <a:srgbClr val="B8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40196" y="37581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1.49%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15225" y="37581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0.79%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890254" y="37581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0.40%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65283" y="37581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0.81%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" y="3959352"/>
            <a:ext cx="11000232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0080" y="39867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#10 Peru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15109" y="39867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T5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90138" y="39867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$22,461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65167" y="39867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0.54%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40196" y="39867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2.13%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15225" y="39867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0.89%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90254" y="39867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0.43%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237851" y="3977640"/>
            <a:ext cx="1338453" cy="192024"/>
          </a:xfrm>
          <a:prstGeom prst="rect">
            <a:avLst/>
          </a:prstGeom>
          <a:solidFill>
            <a:srgbClr val="DF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265283" y="3986784"/>
            <a:ext cx="1283589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1E1E1E"/>
                </a:solidFill>
                <a:latin typeface="Calibri"/>
              </a:rPr>
              <a:t>0.51%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94360" y="4370832"/>
            <a:ext cx="5454396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94360" y="4370832"/>
            <a:ext cx="5454396" cy="228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85800" y="4398264"/>
            <a:ext cx="527151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REASON CODE DRILLDOWN - OVERRIDES &amp; DISCOUNTS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04088" y="469087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E1E1E"/>
                </a:solidFill>
                <a:latin typeface="Calibri"/>
              </a:rP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05840" y="4690872"/>
            <a:ext cx="380847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1E1E1E"/>
                </a:solidFill>
                <a:latin typeface="Calibri"/>
              </a:rPr>
              <a:t>Miss Mark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14316" y="469087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1E1E1E"/>
                </a:solidFill>
                <a:latin typeface="Calibri"/>
              </a:rPr>
              <a:t>$82,450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04088" y="489204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E1E1E"/>
                </a:solidFill>
                <a:latin typeface="Calibri"/>
              </a:rPr>
              <a:t>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05840" y="4892040"/>
            <a:ext cx="380847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1E1E1E"/>
                </a:solidFill>
                <a:latin typeface="Calibri"/>
              </a:rPr>
              <a:t>Disc Sell Off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14316" y="4892040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1E1E1E"/>
                </a:solidFill>
                <a:latin typeface="Calibri"/>
              </a:rPr>
              <a:t>$118,930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04088" y="50932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E1E1E"/>
                </a:solidFill>
                <a:latin typeface="Calibri"/>
              </a:rPr>
              <a:t>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5840" y="5093208"/>
            <a:ext cx="380847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1E1E1E"/>
                </a:solidFill>
                <a:latin typeface="Calibri"/>
              </a:rPr>
              <a:t>Dated Product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814316" y="5093208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1E1E1E"/>
                </a:solidFill>
                <a:latin typeface="Calibri"/>
              </a:rPr>
              <a:t>$47,210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04088" y="5294376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E1E1E"/>
                </a:solidFill>
                <a:latin typeface="Calibri"/>
              </a:rPr>
              <a:t>13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05840" y="5294376"/>
            <a:ext cx="380847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1E1E1E"/>
                </a:solidFill>
                <a:latin typeface="Calibri"/>
              </a:rPr>
              <a:t>Price Match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14316" y="5294376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1E1E1E"/>
                </a:solidFill>
                <a:latin typeface="Calibri"/>
              </a:rPr>
              <a:t>$94,220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04088" y="54955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E1E1E"/>
                </a:solidFill>
                <a:latin typeface="Calibri"/>
              </a:rPr>
              <a:t>14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05840" y="5495544"/>
            <a:ext cx="380847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1E1E1E"/>
                </a:solidFill>
                <a:latin typeface="Calibri"/>
              </a:rPr>
              <a:t>Expired Reward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14316" y="549554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1E1E1E"/>
                </a:solidFill>
                <a:latin typeface="Calibri"/>
              </a:rPr>
              <a:t>$28,140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140196" y="4370832"/>
            <a:ext cx="5454396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140196" y="4370832"/>
            <a:ext cx="5454396" cy="228600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231636" y="4398264"/>
            <a:ext cx="527151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POS SELF-CHECKOUT WATCHLIST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49924" y="4690872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FITCHBURG, MA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603236" y="469087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Shawn C Kelley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582912" y="4690872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1">
                <a:solidFill>
                  <a:srgbClr val="EC1C24"/>
                </a:solidFill>
                <a:latin typeface="Calibri"/>
              </a:rPr>
              <a:t>Mgr override used on own ring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49924" y="489204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HUDSON, NH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03236" y="489204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Kim P Delaney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582912" y="4892040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1">
                <a:solidFill>
                  <a:srgbClr val="EC1C24"/>
                </a:solidFill>
                <a:latin typeface="Calibri"/>
              </a:rPr>
              <a:t>Employee disc on own ring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49924" y="509320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DERRY, NH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603236" y="5093208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J. Milosky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582912" y="5093208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1">
                <a:solidFill>
                  <a:srgbClr val="EC1C24"/>
                </a:solidFill>
                <a:latin typeface="Calibri"/>
              </a:rPr>
              <a:t>Shrink adjust by operator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49924" y="5294376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MANCHESTER, NH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603236" y="52943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A. Burke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582912" y="5294376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1">
                <a:solidFill>
                  <a:srgbClr val="EC1C24"/>
                </a:solidFill>
                <a:latin typeface="Calibri"/>
              </a:rPr>
              <a:t>Employee disc on own ring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49924" y="5495544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HOLDEN, MA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603236" y="549554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R. Gagnon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582912" y="549554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1">
                <a:solidFill>
                  <a:srgbClr val="EC1C24"/>
                </a:solidFill>
                <a:latin typeface="Calibri"/>
              </a:rPr>
              <a:t>Price match on own ring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5720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Variant A . HTML: LP_Dashboard_Variant_A_KPI_Tabs.html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545775" y="644652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LP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36576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E1E1E"/>
                </a:solidFill>
                <a:latin typeface="Trebuchet MS"/>
              </a:rPr>
              <a:t>Variant B - Store Leaderboard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Company summary bar at top. Every store ranked worst-to-best with color-coded cells. Reason codes as horizontal bars on the right.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74552" cy="5074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18059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44752"/>
            <a:ext cx="165049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5A5A5A"/>
                </a:solidFill>
                <a:latin typeface="Calibri"/>
              </a:rPr>
              <a:t>SHRINK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1650492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E1E1E"/>
                </a:solidFill>
                <a:latin typeface="Trebuchet MS"/>
              </a:rPr>
              <a:t>0.55%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7732" y="1371600"/>
            <a:ext cx="18059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9172" y="1444752"/>
            <a:ext cx="165049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5A5A5A"/>
                </a:solidFill>
                <a:latin typeface="Calibri"/>
              </a:rPr>
              <a:t>O&amp;D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9172" y="1645920"/>
            <a:ext cx="1650492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E1E1E"/>
                </a:solidFill>
                <a:latin typeface="Trebuchet MS"/>
              </a:rPr>
              <a:t>1.90%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1104" y="1371600"/>
            <a:ext cx="18059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2544" y="1444752"/>
            <a:ext cx="165049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5A5A5A"/>
                </a:solidFill>
                <a:latin typeface="Calibri"/>
              </a:rPr>
              <a:t>COUPONS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1645920"/>
            <a:ext cx="1650492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E1E1E"/>
                </a:solidFill>
                <a:latin typeface="Trebuchet MS"/>
              </a:rPr>
              <a:t>0.81%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1371600"/>
            <a:ext cx="18059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5916" y="1444752"/>
            <a:ext cx="165049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5A5A5A"/>
                </a:solidFill>
                <a:latin typeface="Calibri"/>
              </a:rPr>
              <a:t>EMP DISC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5916" y="1645920"/>
            <a:ext cx="1650492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E1E1E"/>
                </a:solidFill>
                <a:latin typeface="Trebuchet MS"/>
              </a:rPr>
              <a:t>0.34%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7848" y="1371600"/>
            <a:ext cx="18059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9288" y="1444752"/>
            <a:ext cx="165049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5A5A5A"/>
                </a:solidFill>
                <a:latin typeface="Calibri"/>
              </a:rPr>
              <a:t>OTHER %RET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1645920"/>
            <a:ext cx="1650492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E1E1E"/>
                </a:solidFill>
                <a:latin typeface="Trebuchet MS"/>
              </a:rPr>
              <a:t>0.65%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61220" y="1371600"/>
            <a:ext cx="1805940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2660" y="1444752"/>
            <a:ext cx="165049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$ AT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2660" y="1645920"/>
            <a:ext cx="1650492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rebuchet MS"/>
              </a:rPr>
              <a:t>$238,586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2377440"/>
            <a:ext cx="6600139" cy="21945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395728"/>
            <a:ext cx="66019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3428" y="2395728"/>
            <a:ext cx="66019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6777" y="2395728"/>
            <a:ext cx="66019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40126" y="2395728"/>
            <a:ext cx="66019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3475" y="2395728"/>
            <a:ext cx="66019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Shrink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06824" y="2395728"/>
            <a:ext cx="66019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O&amp;D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0172" y="2395728"/>
            <a:ext cx="66019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Coupon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3521" y="2395728"/>
            <a:ext cx="66019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Emp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6870" y="2395728"/>
            <a:ext cx="66019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Other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2596896"/>
            <a:ext cx="6600139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" y="2633472"/>
            <a:ext cx="228600" cy="137160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1518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3428" y="261518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#1 Fitchburg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6777" y="261518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T6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40126" y="261518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$23,927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73475" y="261518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06824" y="261518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2.04%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40172" y="261518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0.88%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73521" y="261518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0.44%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06870" y="261518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0.70%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2807208"/>
            <a:ext cx="6600139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648" y="2843784"/>
            <a:ext cx="228600" cy="137160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" y="2825496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73428" y="282549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#3 Meredith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6777" y="282549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T4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40126" y="282549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$36,107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46043" y="2825496"/>
            <a:ext cx="696772" cy="173736"/>
          </a:xfrm>
          <a:prstGeom prst="rect">
            <a:avLst/>
          </a:prstGeom>
          <a:solidFill>
            <a:srgbClr val="DF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73475" y="282549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0.28%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06824" y="282549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2.04%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40172" y="282549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0.77%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73521" y="282549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0.31%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6870" y="282549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0.68%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3017520"/>
            <a:ext cx="6600139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2648" y="3054096"/>
            <a:ext cx="228600" cy="137160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" y="303580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3428" y="303580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#4 Gardner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06777" y="303580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T3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40126" y="303580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$68,788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73475" y="303580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0.54%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79392" y="3035808"/>
            <a:ext cx="696772" cy="173736"/>
          </a:xfrm>
          <a:prstGeom prst="rect">
            <a:avLst/>
          </a:prstGeom>
          <a:solidFill>
            <a:srgbClr val="F8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06824" y="303580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2.21%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40172" y="303580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0.90%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73521" y="303580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0.33%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06870" y="303580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0.53%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" y="3227832"/>
            <a:ext cx="6600139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648" y="3264408"/>
            <a:ext cx="228600" cy="13716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2648" y="324612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73428" y="324612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#7 Tewksbury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06777" y="324612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T5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40126" y="324612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$44,907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546043" y="3246120"/>
            <a:ext cx="696772" cy="173736"/>
          </a:xfrm>
          <a:prstGeom prst="rect">
            <a:avLst/>
          </a:prstGeom>
          <a:solidFill>
            <a:srgbClr val="DF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573475" y="324612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0.40%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06824" y="324612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2.09%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12740" y="3246120"/>
            <a:ext cx="696772" cy="173736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40172" y="324612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1.09%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73521" y="324612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0.35%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06870" y="324612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0.66%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4360" y="3438144"/>
            <a:ext cx="6600139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12648" y="3474720"/>
            <a:ext cx="228600" cy="13716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2648" y="3456432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73428" y="345643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#8 Clinton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06777" y="345643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T5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840126" y="345643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$38,722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573475" y="345643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0.68%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279392" y="3456432"/>
            <a:ext cx="696772" cy="173736"/>
          </a:xfrm>
          <a:prstGeom prst="rect">
            <a:avLst/>
          </a:prstGeom>
          <a:solidFill>
            <a:srgbClr val="B8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306824" y="345643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1.49%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40172" y="345643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0.79%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73521" y="345643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0.40%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06870" y="345643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0.81%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94360" y="3648456"/>
            <a:ext cx="6600139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12648" y="3685032"/>
            <a:ext cx="228600" cy="13716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2648" y="366674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373428" y="366674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#10 Peru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06777" y="366674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T5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840126" y="366674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$22,461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573475" y="366674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0.54%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306824" y="366674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2.13%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040172" y="366674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0.89%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773521" y="366674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0.43%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479438" y="3666744"/>
            <a:ext cx="696772" cy="173736"/>
          </a:xfrm>
          <a:prstGeom prst="rect">
            <a:avLst/>
          </a:prstGeom>
          <a:solidFill>
            <a:srgbClr val="DF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506870" y="3666744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0.51%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94360" y="3858768"/>
            <a:ext cx="6600139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12648" y="3895344"/>
            <a:ext cx="228600" cy="13716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2648" y="3877056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373428" y="387705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#16 Norway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106777" y="387705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T4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840126" y="387705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$43,855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573475" y="387705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0.65%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279392" y="3877056"/>
            <a:ext cx="696772" cy="173736"/>
          </a:xfrm>
          <a:prstGeom prst="rect">
            <a:avLst/>
          </a:prstGeom>
          <a:solidFill>
            <a:srgbClr val="B8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306824" y="387705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1.39%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012740" y="3877056"/>
            <a:ext cx="696772" cy="173736"/>
          </a:xfrm>
          <a:prstGeom prst="rect">
            <a:avLst/>
          </a:prstGeom>
          <a:solidFill>
            <a:srgbClr val="B8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040172" y="387705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0.35%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73521" y="387705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0.27%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506870" y="3877056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0.52%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94360" y="4069080"/>
            <a:ext cx="6600139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12648" y="4105656"/>
            <a:ext cx="228600" cy="13716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12648" y="408736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373428" y="408736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#17 Turners Fall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106777" y="408736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T6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840126" y="408736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$25,406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546043" y="4087368"/>
            <a:ext cx="696772" cy="173736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573475" y="408736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0.81%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279392" y="4087368"/>
            <a:ext cx="696772" cy="173736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306824" y="408736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2.33%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012740" y="4087368"/>
            <a:ext cx="696772" cy="173736"/>
          </a:xfrm>
          <a:prstGeom prst="rect">
            <a:avLst/>
          </a:prstGeom>
          <a:solidFill>
            <a:srgbClr val="DF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040172" y="408736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0.68%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773521" y="408736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0.45%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479438" y="4087368"/>
            <a:ext cx="696772" cy="173736"/>
          </a:xfrm>
          <a:prstGeom prst="rect">
            <a:avLst/>
          </a:prstGeom>
          <a:solidFill>
            <a:srgbClr val="DF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506870" y="4087368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0.57%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94360" y="4279392"/>
            <a:ext cx="6600139" cy="210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12648" y="4315968"/>
            <a:ext cx="228600" cy="13716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2648" y="429768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373428" y="429768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#18 Shelburne Fa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106777" y="429768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T6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840126" y="429768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$29,985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573475" y="429768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0.63%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306824" y="429768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2.00%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040172" y="429768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0.92%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773521" y="429768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0.45%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506870" y="4297680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0.82%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94360" y="4489704"/>
            <a:ext cx="6600139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12648" y="4526280"/>
            <a:ext cx="228600" cy="13716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12648" y="4507992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373428" y="450799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#22 Lincoln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106777" y="450799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T5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840126" y="450799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$33,704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573475" y="450799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0.64%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279392" y="4507992"/>
            <a:ext cx="696772" cy="173736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306824" y="450799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2.23%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040172" y="450799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0.94%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773521" y="450799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0.29%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506870" y="4507992"/>
            <a:ext cx="660196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0.57%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285939" y="2377440"/>
            <a:ext cx="4326940" cy="21945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377379" y="2395728"/>
            <a:ext cx="414406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REASON CODE $ - LAST WEEK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331659" y="265176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1 Miss Mark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748979" y="2679192"/>
            <a:ext cx="1720900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748979" y="2679192"/>
            <a:ext cx="1224736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0515600" y="265176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$82,450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331659" y="2852928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4 Disc Sell Off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748979" y="2880360"/>
            <a:ext cx="1720900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748979" y="2880360"/>
            <a:ext cx="1766620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0515600" y="285292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$118,930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331659" y="305409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9 Dated Product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748979" y="3081528"/>
            <a:ext cx="1720900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8748979" y="3081528"/>
            <a:ext cx="701271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0515600" y="3054096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$47,210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331659" y="325526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13 Price Match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748979" y="3282696"/>
            <a:ext cx="1720900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8748979" y="3282696"/>
            <a:ext cx="1399571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0515600" y="3255264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$94,220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331659" y="345643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14 Expired Reward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748979" y="3483864"/>
            <a:ext cx="1720900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748979" y="3483864"/>
            <a:ext cx="417999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0515600" y="345643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$28,140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331659" y="365760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15 New HTP / HTH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748979" y="3685032"/>
            <a:ext cx="1720900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748979" y="3685032"/>
            <a:ext cx="990781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0515600" y="365760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$66,700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331659" y="3858768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33 Package Pricin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8748979" y="3886200"/>
            <a:ext cx="1720900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748979" y="3886200"/>
            <a:ext cx="591943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0515600" y="385876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$39,850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331659" y="405993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34 Discount Code 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8748979" y="4087368"/>
            <a:ext cx="1720900" cy="128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748979" y="4087368"/>
            <a:ext cx="833622" cy="128016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0515600" y="4059936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$56,120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5720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Variant B . HTML: LP_Dashboard_Variant_B_Leaderboard.html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0545775" y="644652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LP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36576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E1E1E"/>
                </a:solidFill>
                <a:latin typeface="Trebuchet MS"/>
              </a:rPr>
              <a:t>Variant C - Executive Heatmap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Left rail with company KPIs. Giant store × metric heatmap of all 109 comp stores. Top offenders + reason chips below.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74552" cy="5074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173736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A5A5A"/>
                </a:solidFill>
                <a:latin typeface="Calibri"/>
              </a:rPr>
              <a:t>COMPANY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1554480" cy="13716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7452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Shrink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7452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1E1E1E"/>
                </a:solidFill>
                <a:latin typeface="Calibri"/>
              </a:rPr>
              <a:t>0.55%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9456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O&amp;D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19456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1E1E1E"/>
                </a:solidFill>
                <a:latin typeface="Calibri"/>
              </a:rPr>
              <a:t>1.90%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51460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Coupons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51460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1E1E1E"/>
                </a:solidFill>
                <a:latin typeface="Calibri"/>
              </a:rPr>
              <a:t>0.81%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83464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Emp Disc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83464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1E1E1E"/>
                </a:solidFill>
                <a:latin typeface="Calibri"/>
              </a:rPr>
              <a:t>0.34%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5468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Other %Ret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15468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1E1E1E"/>
                </a:solidFill>
                <a:latin typeface="Calibri"/>
              </a:rPr>
              <a:t>0.65%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349240"/>
            <a:ext cx="1645920" cy="7315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2239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$ AT RISK / WEEK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2356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rebuchet MS"/>
              </a:rPr>
              <a:t>$238,586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41448" y="1371600"/>
            <a:ext cx="915314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41448" y="1371600"/>
            <a:ext cx="9153144" cy="21945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32888" y="1389888"/>
            <a:ext cx="8970264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STORE x METRIC HEATMAP - % of sales (tier-compared)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7168" y="1627632"/>
            <a:ext cx="1464564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5A5A5A"/>
                </a:solidFill>
                <a:latin typeface="Calibri"/>
              </a:rPr>
              <a:t>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97452" y="1627632"/>
            <a:ext cx="1464564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 i="0">
                <a:solidFill>
                  <a:srgbClr val="5A5A5A"/>
                </a:solidFill>
                <a:latin typeface="Calibri"/>
              </a:rPr>
              <a:t>Shrink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07736" y="1627632"/>
            <a:ext cx="1464564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 i="0">
                <a:solidFill>
                  <a:srgbClr val="5A5A5A"/>
                </a:solidFill>
                <a:latin typeface="Calibri"/>
              </a:rPr>
              <a:t>O&amp;D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8020" y="1627632"/>
            <a:ext cx="1464564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 i="0">
                <a:solidFill>
                  <a:srgbClr val="5A5A5A"/>
                </a:solidFill>
                <a:latin typeface="Calibri"/>
              </a:rPr>
              <a:t>Coupon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8304" y="1627632"/>
            <a:ext cx="1464564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 i="0">
                <a:solidFill>
                  <a:srgbClr val="5A5A5A"/>
                </a:solidFill>
                <a:latin typeface="Calibri"/>
              </a:rPr>
              <a:t>Emp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38588" y="1627632"/>
            <a:ext cx="1464564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 i="0">
                <a:solidFill>
                  <a:srgbClr val="5A5A5A"/>
                </a:solidFill>
                <a:latin typeface="Calibri"/>
              </a:rPr>
              <a:t>Other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05456" y="18196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#1 Fitchburg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15740" y="18196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26024" y="18196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2.04%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36308" y="18196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0.88%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6592" y="18196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0.44%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6876" y="18196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0.70%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05456" y="195681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#3 Meredith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97452" y="1965960"/>
            <a:ext cx="1491996" cy="132588"/>
          </a:xfrm>
          <a:prstGeom prst="rect">
            <a:avLst/>
          </a:prstGeom>
          <a:solidFill>
            <a:srgbClr val="DF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15740" y="195681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0.28%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26024" y="195681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2.04%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6308" y="195681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0.77%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6592" y="195681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0.31%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6876" y="195681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05456" y="209397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#4 Gardner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15740" y="209397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0.54%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07736" y="2103120"/>
            <a:ext cx="1491996" cy="132588"/>
          </a:xfrm>
          <a:prstGeom prst="rect">
            <a:avLst/>
          </a:prstGeom>
          <a:solidFill>
            <a:srgbClr val="F8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26024" y="209397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2.21%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36308" y="209397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0.90%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6592" y="209397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0.33%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6876" y="209397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0.53%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05456" y="223113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#7 Tewksbury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97452" y="2240280"/>
            <a:ext cx="1491996" cy="132588"/>
          </a:xfrm>
          <a:prstGeom prst="rect">
            <a:avLst/>
          </a:prstGeom>
          <a:solidFill>
            <a:srgbClr val="DF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15740" y="223113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0.40%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26024" y="223113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2.09%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18020" y="2240280"/>
            <a:ext cx="1491996" cy="132588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36308" y="223113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1.09%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6592" y="223113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0.35%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6876" y="223113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0.66%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05456" y="236829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#8 Clinton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15740" y="236829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0.68%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07736" y="2377440"/>
            <a:ext cx="1491996" cy="132588"/>
          </a:xfrm>
          <a:prstGeom prst="rect">
            <a:avLst/>
          </a:prstGeom>
          <a:solidFill>
            <a:srgbClr val="B8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26024" y="236829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1.49%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36308" y="236829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0.79%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46592" y="236829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0.40%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6876" y="236829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0.81%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05456" y="25054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#10 Peru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15740" y="25054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0.54%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26024" y="25054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2.13%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36308" y="25054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0.89%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46592" y="25054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0.43%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38588" y="2514600"/>
            <a:ext cx="1491996" cy="132588"/>
          </a:xfrm>
          <a:prstGeom prst="rect">
            <a:avLst/>
          </a:prstGeom>
          <a:solidFill>
            <a:srgbClr val="DF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56876" y="25054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0.51%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05456" y="264261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#16 Norway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15740" y="264261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0.65%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507736" y="2651760"/>
            <a:ext cx="1491996" cy="132588"/>
          </a:xfrm>
          <a:prstGeom prst="rect">
            <a:avLst/>
          </a:prstGeom>
          <a:solidFill>
            <a:srgbClr val="B8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526024" y="264261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1.39%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18020" y="2651760"/>
            <a:ext cx="1491996" cy="132588"/>
          </a:xfrm>
          <a:prstGeom prst="rect">
            <a:avLst/>
          </a:prstGeom>
          <a:solidFill>
            <a:srgbClr val="B8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036308" y="264261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0.35%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46592" y="264261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0.27%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56876" y="264261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0.52%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05456" y="277977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#17 Turners Fa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997452" y="2788920"/>
            <a:ext cx="1491996" cy="132588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015740" y="277977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0.81%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507736" y="2788920"/>
            <a:ext cx="1491996" cy="132588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526024" y="277977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2.33%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018020" y="2788920"/>
            <a:ext cx="1491996" cy="132588"/>
          </a:xfrm>
          <a:prstGeom prst="rect">
            <a:avLst/>
          </a:prstGeom>
          <a:solidFill>
            <a:srgbClr val="DF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36308" y="277977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0.68%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46592" y="277977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0.45%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38588" y="2788920"/>
            <a:ext cx="1491996" cy="132588"/>
          </a:xfrm>
          <a:prstGeom prst="rect">
            <a:avLst/>
          </a:prstGeom>
          <a:solidFill>
            <a:srgbClr val="DF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056876" y="277977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0.57%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505456" y="291693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#18 Shelburne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15740" y="291693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0.63%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26024" y="291693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2.00%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036308" y="291693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0.92%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46592" y="291693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0.45%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56876" y="291693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0.82%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505456" y="305409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#22 Lincoln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15740" y="305409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0.64%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507736" y="3063240"/>
            <a:ext cx="1491996" cy="132588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26024" y="305409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2.23%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036308" y="305409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0.94%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546592" y="305409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0.29%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056876" y="305409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0.57%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505456" y="31912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#25 Saint John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015740" y="31912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0.47%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507736" y="3200400"/>
            <a:ext cx="1491996" cy="132588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526024" y="31912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2.09%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036308" y="31912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0.77%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528304" y="3200400"/>
            <a:ext cx="1491996" cy="132588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546592" y="31912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0.56%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056876" y="31912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0.54%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505456" y="332841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#32 Franklin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997452" y="3337560"/>
            <a:ext cx="1491996" cy="132588"/>
          </a:xfrm>
          <a:prstGeom prst="rect">
            <a:avLst/>
          </a:prstGeom>
          <a:solidFill>
            <a:srgbClr val="DF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015740" y="332841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0.38%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507736" y="3337560"/>
            <a:ext cx="1491996" cy="132588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526024" y="332841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2.27%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018020" y="3337560"/>
            <a:ext cx="1491996" cy="132588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036308" y="332841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1.11%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546592" y="332841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0.40%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056876" y="332841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0.81%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505456" y="346557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#33 Great Barr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997452" y="3474720"/>
            <a:ext cx="1491996" cy="132588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015740" y="346557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0.91%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26024" y="346557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2.07%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018020" y="3474720"/>
            <a:ext cx="1491996" cy="132588"/>
          </a:xfrm>
          <a:prstGeom prst="rect">
            <a:avLst/>
          </a:prstGeom>
          <a:solidFill>
            <a:srgbClr val="DF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036308" y="346557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0.64%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546592" y="346557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0.32%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56876" y="346557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0.86%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505456" y="360273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#34 Stafford 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997452" y="3611880"/>
            <a:ext cx="1491996" cy="132588"/>
          </a:xfrm>
          <a:prstGeom prst="rect">
            <a:avLst/>
          </a:prstGeom>
          <a:solidFill>
            <a:srgbClr val="DF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015740" y="360273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0.32%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526024" y="360273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2.01%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036308" y="360273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0.90%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546592" y="360273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0.32%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056876" y="360273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0.79%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05456" y="373989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#37 Webster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015740" y="373989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0.68%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507736" y="3749040"/>
            <a:ext cx="1491996" cy="132588"/>
          </a:xfrm>
          <a:prstGeom prst="rect">
            <a:avLst/>
          </a:prstGeom>
          <a:solidFill>
            <a:srgbClr val="F8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526024" y="373989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2.81%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036308" y="373989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0.96%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546592" y="373989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0.29%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056876" y="373989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0.60%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505456" y="38770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1E1E1E"/>
                </a:solidFill>
                <a:latin typeface="Calibri"/>
              </a:rPr>
              <a:t>#39 Windsor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015740" y="38770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0.43%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507736" y="3886200"/>
            <a:ext cx="1491996" cy="132588"/>
          </a:xfrm>
          <a:prstGeom prst="rect">
            <a:avLst/>
          </a:prstGeom>
          <a:solidFill>
            <a:srgbClr val="FD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526024" y="38770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2.33%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036308" y="38770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0.75%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546592" y="38770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0.34%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056876" y="3877056"/>
            <a:ext cx="142798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1E1E1E"/>
                </a:solidFill>
                <a:latin typeface="Calibri"/>
              </a:rPr>
              <a:t>0.79%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441448" y="4480560"/>
            <a:ext cx="453085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2441448" y="4480560"/>
            <a:ext cx="4530852" cy="2011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532888" y="4498848"/>
            <a:ext cx="4347972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1E1E1E"/>
                </a:solidFill>
                <a:latin typeface="Calibri"/>
              </a:rPr>
              <a:t>TOP 5 STORES BY $ AT RISK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532888" y="473659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EC1C24"/>
                </a:solidFill>
                <a:latin typeface="Calibri"/>
              </a:rPr>
              <a:t>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807208" y="4736592"/>
            <a:ext cx="2702052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#233 ITHACA, NY - DOWNTOW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600700" y="473659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1E1E1E"/>
                </a:solidFill>
                <a:latin typeface="Calibri"/>
              </a:rPr>
              <a:t>$5,713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532888" y="491947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EC1C24"/>
                </a:solidFill>
                <a:latin typeface="Calibri"/>
              </a:rPr>
              <a:t>2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807208" y="4919472"/>
            <a:ext cx="2702052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#209 MOUNT JOY, PA - ACE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600700" y="491947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1E1E1E"/>
                </a:solidFill>
                <a:latin typeface="Calibri"/>
              </a:rPr>
              <a:t>$4,347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532888" y="51023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EC1C24"/>
                </a:solidFill>
                <a:latin typeface="Calibri"/>
              </a:rPr>
              <a:t>3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807208" y="5102352"/>
            <a:ext cx="2702052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#236 DOVER, PA - ACE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00700" y="510235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1E1E1E"/>
                </a:solidFill>
                <a:latin typeface="Calibri"/>
              </a:rPr>
              <a:t>$4,052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532888" y="528523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EC1C24"/>
                </a:solidFill>
                <a:latin typeface="Calibri"/>
              </a:rPr>
              <a:t>4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807208" y="5285232"/>
            <a:ext cx="2702052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#208 BURTONSVILLE, MD - A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600700" y="528523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1E1E1E"/>
                </a:solidFill>
                <a:latin typeface="Calibri"/>
              </a:rPr>
              <a:t>$3,495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532888" y="546811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EC1C24"/>
                </a:solidFill>
                <a:latin typeface="Calibri"/>
              </a:rPr>
              <a:t>5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807208" y="5468112"/>
            <a:ext cx="2702052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#192 BEVERLY, MA - ACE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600700" y="546811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1E1E1E"/>
                </a:solidFill>
                <a:latin typeface="Calibri"/>
              </a:rPr>
              <a:t>$3,213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063740" y="4480560"/>
            <a:ext cx="453085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063740" y="4480560"/>
            <a:ext cx="4530852" cy="2011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7155180" y="4498848"/>
            <a:ext cx="4347972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1E1E1E"/>
                </a:solidFill>
                <a:latin typeface="Calibri"/>
              </a:rPr>
              <a:t>REASON CODES (click any to drill)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155180" y="4754880"/>
            <a:ext cx="1373124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200900" y="4800600"/>
            <a:ext cx="201168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7200900" y="478231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447788" y="4782312"/>
            <a:ext cx="105308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1E1E1E"/>
                </a:solidFill>
                <a:latin typeface="Calibri"/>
              </a:rPr>
              <a:t>Miss Mark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447788" y="4882896"/>
            <a:ext cx="105308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EC1C24"/>
                </a:solidFill>
                <a:latin typeface="Calibri"/>
              </a:rPr>
              <a:t>$82,450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574024" y="4754880"/>
            <a:ext cx="1373124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619744" y="4800600"/>
            <a:ext cx="201168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619744" y="478231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866632" y="4782312"/>
            <a:ext cx="105308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1E1E1E"/>
                </a:solidFill>
                <a:latin typeface="Calibri"/>
              </a:rPr>
              <a:t>Disc Sell Off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8866632" y="4882896"/>
            <a:ext cx="105308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EC1C24"/>
                </a:solidFill>
                <a:latin typeface="Calibri"/>
              </a:rPr>
              <a:t>$118,930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9992868" y="4754880"/>
            <a:ext cx="1373124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0038588" y="4800600"/>
            <a:ext cx="201168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0038588" y="478231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0285476" y="4782312"/>
            <a:ext cx="105308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1E1E1E"/>
                </a:solidFill>
                <a:latin typeface="Calibri"/>
              </a:rPr>
              <a:t>Dated Product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285476" y="4882896"/>
            <a:ext cx="105308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EC1C24"/>
                </a:solidFill>
                <a:latin typeface="Calibri"/>
              </a:rPr>
              <a:t>$47,210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155180" y="5056632"/>
            <a:ext cx="1373124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200900" y="5102352"/>
            <a:ext cx="201168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200900" y="508406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447788" y="5084064"/>
            <a:ext cx="105308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1E1E1E"/>
                </a:solidFill>
                <a:latin typeface="Calibri"/>
              </a:rPr>
              <a:t>Price Match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447788" y="5184648"/>
            <a:ext cx="105308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EC1C24"/>
                </a:solidFill>
                <a:latin typeface="Calibri"/>
              </a:rPr>
              <a:t>$94,220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574024" y="5056632"/>
            <a:ext cx="1373124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8619744" y="5102352"/>
            <a:ext cx="201168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8619744" y="508406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866632" y="5084064"/>
            <a:ext cx="105308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1E1E1E"/>
                </a:solidFill>
                <a:latin typeface="Calibri"/>
              </a:rPr>
              <a:t>Expired Reward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866632" y="5184648"/>
            <a:ext cx="105308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EC1C24"/>
                </a:solidFill>
                <a:latin typeface="Calibri"/>
              </a:rPr>
              <a:t>$28,140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9992868" y="5056632"/>
            <a:ext cx="1373124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0038588" y="5102352"/>
            <a:ext cx="201168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038588" y="508406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285476" y="5084064"/>
            <a:ext cx="105308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1E1E1E"/>
                </a:solidFill>
                <a:latin typeface="Calibri"/>
              </a:rPr>
              <a:t>New HTP / HTH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285476" y="5184648"/>
            <a:ext cx="105308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EC1C24"/>
                </a:solidFill>
                <a:latin typeface="Calibri"/>
              </a:rPr>
              <a:t>$66,700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7155180" y="5358384"/>
            <a:ext cx="1373124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7200900" y="5404104"/>
            <a:ext cx="201168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7200900" y="538581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33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447788" y="5385816"/>
            <a:ext cx="105308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1E1E1E"/>
                </a:solidFill>
                <a:latin typeface="Calibri"/>
              </a:rPr>
              <a:t>Package Pricin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447788" y="5486400"/>
            <a:ext cx="105308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EC1C24"/>
                </a:solidFill>
                <a:latin typeface="Calibri"/>
              </a:rPr>
              <a:t>$39,850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8574024" y="5358384"/>
            <a:ext cx="1373124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8619744" y="5404104"/>
            <a:ext cx="201168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619744" y="538581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34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866632" y="5385816"/>
            <a:ext cx="105308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1E1E1E"/>
                </a:solidFill>
                <a:latin typeface="Calibri"/>
              </a:rPr>
              <a:t>Discount Code 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866632" y="5486400"/>
            <a:ext cx="105308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EC1C24"/>
                </a:solidFill>
                <a:latin typeface="Calibri"/>
              </a:rPr>
              <a:t>$56,120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9992868" y="5358384"/>
            <a:ext cx="1373124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0038588" y="5404104"/>
            <a:ext cx="201168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0038588" y="538581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37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0285476" y="5385816"/>
            <a:ext cx="105308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0">
                <a:solidFill>
                  <a:srgbClr val="1E1E1E"/>
                </a:solidFill>
                <a:latin typeface="Calibri"/>
              </a:rPr>
              <a:t>Discount Code 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0285476" y="5486400"/>
            <a:ext cx="105308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 i="0">
                <a:solidFill>
                  <a:srgbClr val="EC1C24"/>
                </a:solidFill>
                <a:latin typeface="Calibri"/>
              </a:rPr>
              <a:t>$24,870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5720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Variant C . HTML: LP_Dashboard_Variant_C_Heatmap.html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545775" y="644652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LP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36576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E1E1E"/>
                </a:solidFill>
                <a:latin typeface="Trebuchet MS"/>
              </a:rPr>
              <a:t>Which variant fits which audience?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Pick one as the primary view - the other two can be saved as tabs or dropped.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370332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3703320" cy="59436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07592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rebuchet MS"/>
              </a:rPr>
              <a:t>A  .  KPI Tabs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81912"/>
            <a:ext cx="333756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for Store Managers &amp; Team Managers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03120"/>
            <a:ext cx="73152" cy="73152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01168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Familiar YODA pattern - tab a KPI, see the detail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697480"/>
            <a:ext cx="73152" cy="73152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6060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Great for drilling one metric at a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291840"/>
            <a:ext cx="73152" cy="73152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20040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Table has all 5 KPIs plus dollar values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886200"/>
            <a:ext cx="73152" cy="73152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7947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Reason codes + self-checkout panels below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166360"/>
            <a:ext cx="333756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166360"/>
            <a:ext cx="36576" cy="64008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212080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  <a:latin typeface="Calibri"/>
              </a:rPr>
              <a:t>Use when a store manager opens it every Monday to see THEIR numbers.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9392" y="1234440"/>
            <a:ext cx="370332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9392" y="1234440"/>
            <a:ext cx="3703320" cy="59436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1307592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rebuchet MS"/>
              </a:rPr>
              <a:t>B  .  Leaderboard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1581912"/>
            <a:ext cx="333756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for Senior Team / Field Leaders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07992" y="2103120"/>
            <a:ext cx="73152" cy="73152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201168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Ranks every store worst-to-best on shrink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07992" y="2697480"/>
            <a:ext cx="73152" cy="73152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26060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Top 10 get red/yellow rank badges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07992" y="3291840"/>
            <a:ext cx="73152" cy="73152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20040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Reason codes as horizontal bars (quick scan)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07992" y="3886200"/>
            <a:ext cx="73152" cy="73152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37947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Self-checkout watchlist right-of-center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62272" y="5166360"/>
            <a:ext cx="333756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62272" y="5166360"/>
            <a:ext cx="36576" cy="64008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5212080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  <a:latin typeface="Calibri"/>
              </a:rPr>
              <a:t>Use when the team sets weekly priorities - who needs coaching?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01584" y="1234440"/>
            <a:ext cx="370332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01584" y="1234440"/>
            <a:ext cx="3703320" cy="594360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84464" y="1307592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rebuchet MS"/>
              </a:rPr>
              <a:t>C  .  Heatmap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4464" y="1581912"/>
            <a:ext cx="333756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for Will / Bill / Corporate LP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30184" y="2103120"/>
            <a:ext cx="73152" cy="73152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85632" y="201168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All 109 stores x all 5 metrics on one canvas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30184" y="2697480"/>
            <a:ext cx="73152" cy="73152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85632" y="26060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Pattern recognition across the chain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30184" y="3291840"/>
            <a:ext cx="73152" cy="73152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85632" y="320040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Top offenders + reason-code chips together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30184" y="3886200"/>
            <a:ext cx="73152" cy="73152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85632" y="37947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Best for executive review &amp; trend spotting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84464" y="5166360"/>
            <a:ext cx="333756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84464" y="5166360"/>
            <a:ext cx="36576" cy="640080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94192" y="5212080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  <a:latin typeface="Calibri"/>
              </a:rPr>
              <a:t>Use in quarterly reviews - spot clusters, tiers trending wrong, systemic issues.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1264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01683F"/>
                </a:solidFill>
                <a:latin typeface="Calibri"/>
              </a:rPr>
              <a:t>Recommendation: build Variant B (Leaderboard) first - highest-leverage view for the team. Variants A &amp; C become tabs in the same page.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Open the HTML files alongside this deck to see the live mockups.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45775" y="644652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LP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36576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E1E1E"/>
                </a:solidFill>
                <a:latin typeface="Trebuchet MS"/>
              </a:rPr>
              <a:t>What we need from you to go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The visual is 90% of the work - data decisions are the other 10%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713232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7132320" cy="45720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67665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rebuchet MS"/>
              </a:rPr>
              <a:t>Open questions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874520"/>
            <a:ext cx="274320" cy="27432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8928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874520"/>
            <a:ext cx="630936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Trebuchet MS"/>
              </a:rPr>
              <a:t>Shrink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130552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A5A5A"/>
                </a:solidFill>
                <a:latin typeface="Calibri"/>
              </a:rPr>
              <a:t>Is shrink coming from physical inventory adjustments, or do we tag specific POS transactions as shrink? (affects data pipeline)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560320"/>
            <a:ext cx="274320" cy="27432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5786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560320"/>
            <a:ext cx="630936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Trebuchet MS"/>
              </a:rPr>
              <a:t>Tier benchmarks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816352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A5A5A"/>
                </a:solidFill>
                <a:latin typeface="Calibri"/>
              </a:rPr>
              <a:t>Should tier averages be rolling 4-week or rolling 13-week? Recomputed daily or weekly?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246120"/>
            <a:ext cx="274320" cy="27432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2644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246120"/>
            <a:ext cx="630936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Trebuchet MS"/>
              </a:rPr>
              <a:t>Employee discount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502152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A5A5A"/>
                </a:solidFill>
                <a:latin typeface="Calibri"/>
              </a:rPr>
              <a:t>Include employee-category customers only, or also their family/friends transactions?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931920"/>
            <a:ext cx="274320" cy="27432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9502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931920"/>
            <a:ext cx="630936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Trebuchet MS"/>
              </a:rPr>
              <a:t>'Everything else' definition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187952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A5A5A"/>
                </a:solidFill>
                <a:latin typeface="Calibri"/>
              </a:rPr>
              <a:t>What goes in the 5th bucket - line-item discounts not captured above, or specifically marketing/promo lines?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617720"/>
            <a:ext cx="274320" cy="27432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6360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617720"/>
            <a:ext cx="630936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Trebuchet MS"/>
              </a:rPr>
              <a:t>Self-checkout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73752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A5A5A"/>
                </a:solidFill>
                <a:latin typeface="Calibri"/>
              </a:rPr>
              <a:t>Which conditions trigger a watchlist entry? (emp disc on own ring, mgr override on own ring, price match on own ring, all?)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303520"/>
            <a:ext cx="274320" cy="27432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3218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303520"/>
            <a:ext cx="630936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Trebuchet MS"/>
              </a:rPr>
              <a:t>Time periods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559552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A5A5A"/>
                </a:solidFill>
                <a:latin typeface="Calibri"/>
              </a:rPr>
              <a:t>Default view = last trade week, or MTD? Who needs to change it?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80" y="1234440"/>
            <a:ext cx="4007815" cy="4846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26680" y="1234440"/>
            <a:ext cx="4007815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1325880"/>
            <a:ext cx="3642055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rebuchet MS"/>
              </a:rPr>
              <a:t>Proposed path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80" y="1901952"/>
            <a:ext cx="320040" cy="32004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0" y="191109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1892808"/>
            <a:ext cx="3230575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Trebuchet MS"/>
              </a:rPr>
              <a:t>Pick a variant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2130552"/>
            <a:ext cx="3230575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You pick one of A/B/C (or a hybrid).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80" y="2679192"/>
            <a:ext cx="320040" cy="32004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80" y="268833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2670048"/>
            <a:ext cx="3230575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Trebuchet MS"/>
              </a:rPr>
              <a:t>Answer the 6 questions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907792"/>
            <a:ext cx="3230575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Left column - these drive the DAX.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80" y="3456432"/>
            <a:ext cx="320040" cy="32004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55280" y="346557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3447288"/>
            <a:ext cx="3230575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Trebuchet MS"/>
              </a:rPr>
              <a:t>Build DAX measures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2" y="3685032"/>
            <a:ext cx="3230575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Shrink %, O&amp;D %, Coupon %, Emp Disc %, tier-avg variants in YODA.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80" y="4233672"/>
            <a:ext cx="320040" cy="32004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80" y="424281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2" y="4224528"/>
            <a:ext cx="3230575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Trebuchet MS"/>
              </a:rPr>
              <a:t>Wire up the page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48472" y="4462272"/>
            <a:ext cx="3230575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Add 'Loss Prevention' under the YODA left nav.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55280" y="5010912"/>
            <a:ext cx="320040" cy="320040"/>
          </a:xfrm>
          <a:prstGeom prst="rect">
            <a:avLst/>
          </a:prstGeom>
          <a:solidFill>
            <a:srgbClr val="016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55280" y="502005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48472" y="5001768"/>
            <a:ext cx="3230575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Trebuchet MS"/>
              </a:rPr>
              <a:t>Pilot with one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48472" y="5239512"/>
            <a:ext cx="3230575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Team 1 or Team 2 for 2 weeks - tweak, then roll out.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3840" y="5577840"/>
            <a:ext cx="373349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C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863840" y="5577840"/>
            <a:ext cx="45720" cy="384048"/>
          </a:xfrm>
          <a:prstGeom prst="rect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01000" y="5623560"/>
            <a:ext cx="3550615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EC1C24"/>
                </a:solidFill>
                <a:latin typeface="Trebuchet MS"/>
              </a:rPr>
              <a:t>Target: live in YODA by end of May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4465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LP Dashboard . Design Concepts . April 15,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45775" y="644652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LP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