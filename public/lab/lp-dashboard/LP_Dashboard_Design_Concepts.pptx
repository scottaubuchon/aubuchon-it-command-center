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365760"/>
            <a:ext cx="2560320" cy="607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1E1E1E"/>
                </a:solidFill>
                <a:latin typeface="Trebuchet MS"/>
              </a:rPr>
              <a:t>Loss Prevention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0">
                <a:solidFill>
                  <a:srgbClr val="01683F"/>
                </a:solidFill>
                <a:latin typeface="Trebuchet MS"/>
              </a:rPr>
              <a:t>Design Concepts &amp; YODA-Style Mockups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Two visual treatments for Aubuchon's new LP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Prepared for Scott Aubuchon  ·  April 15, 2026  ·  Sample data: week of Apr 5-11, 2026 (136 active stores)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AUBUCHON COMPANY  ·  YODA  ·  Loss 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Starting point: the mockup you 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Requirements pulled from LP Dashboard visuals.xlsx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1683F"/>
                </a:solidFill>
                <a:latin typeface="Trebuchet MS"/>
              </a:rPr>
              <a:t>5 KPI columns (all with tier comparison)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F58220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9397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Shrink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8658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% of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F58220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7121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Overrides &amp; Discounts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6382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% of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F58220"/>
                </a:solidFill>
                <a:latin typeface="Trebuchet M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64845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Coupons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4106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% of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F58220"/>
                </a:solidFill>
                <a:latin typeface="Trebuchet M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2569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Employee Discount 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1830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% of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F58220"/>
                </a:solidFill>
                <a:latin typeface="Trebuchet M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029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Everything Else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9554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% of retail  AND  % of cost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280160"/>
            <a:ext cx="548640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Trebuchet MS"/>
              </a:rPr>
              <a:t>Plus three operational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2103120"/>
            <a:ext cx="320040" cy="32004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0939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0574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Reason codes for shrink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350008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Each shrink adjustment is tagged with a reason code + description, drillable to transaction.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3291840"/>
            <a:ext cx="320040" cy="32004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2826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24612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Reason codes for overrides/discounts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538728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Same treatment - tie every override/discount dollar to a code the store manager can defend.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4480560"/>
            <a:ext cx="320040" cy="32004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47141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4348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POS self-checkout policing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727448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Flag transactions where the operator is also the customer (employee disc, override on own ring).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Both mockups deliver the 5 KPI columns + tier comparison + zebra formatting you specified, and surface the three operational features as visible UI.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Source: LP Dashboard visuals.xlsx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Matching YODA's visual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What we pulled forward from the Store Manager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613583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613583" cy="685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2339263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Black KPI header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2247823" cy="2011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Selected KPI tile inverts to black/white; unselected tiles are light gray. Matches YODA's 'Sales vs Plan / Sales vs LY' row.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5103" y="1417320"/>
            <a:ext cx="2613583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5103" y="1417320"/>
            <a:ext cx="2613583" cy="68580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2263" y="1554480"/>
            <a:ext cx="2339263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Variance triangles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2331720"/>
            <a:ext cx="2247823" cy="2011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Green up for favorable, Red down for unfavorable, gray dot for flat. Shown beside each comparison value.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17320"/>
            <a:ext cx="2613583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417320"/>
            <a:ext cx="2613583" cy="685800"/>
          </a:xfrm>
          <a:prstGeom prst="rect">
            <a:avLst/>
          </a:prstGeom>
          <a:solidFill>
            <a:srgbClr val="B8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167" y="1554480"/>
            <a:ext cx="2339263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1E1E1E"/>
                </a:solidFill>
                <a:latin typeface="Trebuchet MS"/>
              </a:rPr>
              <a:t>Conditional variance cells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331720"/>
            <a:ext cx="2247823" cy="2011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Green fill for favorable, pink/red for unfavorable against tier benchmark. Same as YODA's 'Sales vs Plan' difference cells.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20911" y="1417320"/>
            <a:ext cx="2613583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0911" y="1417320"/>
            <a:ext cx="2613583" cy="685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8071" y="1554480"/>
            <a:ext cx="2339263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Dense, right-aligned numbers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3791" y="2331720"/>
            <a:ext cx="2247823" cy="2011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Tabular-nums font, alternating-row zebra stripe, black column headers, no chart junk.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Both variants share these tokens - the difference is in how the data is arranged around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Design tokens inspired by YODA Store Dashboard v3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Company View: Team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Company summary bar at top. Every store ranked worst-to-best with color-coded cells. Reason codes as horizontal bars on the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74552" cy="5074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18059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SHRINK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E1E1E"/>
                </a:solidFill>
                <a:latin typeface="Trebuchet MS"/>
              </a:rPr>
              <a:t>0.55%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7732" y="1371600"/>
            <a:ext cx="18059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9172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O&amp;D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172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E1E1E"/>
                </a:solidFill>
                <a:latin typeface="Trebuchet MS"/>
              </a:rPr>
              <a:t>1.90%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1371600"/>
            <a:ext cx="18059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COUPONS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E1E1E"/>
                </a:solidFill>
                <a:latin typeface="Trebuchet MS"/>
              </a:rPr>
              <a:t>0.81%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371600"/>
            <a:ext cx="18059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EMP DISC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5916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E1E1E"/>
                </a:solidFill>
                <a:latin typeface="Trebuchet MS"/>
              </a:rPr>
              <a:t>0.34%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7848" y="1371600"/>
            <a:ext cx="18059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OTHER %RET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E1E1E"/>
                </a:solidFill>
                <a:latin typeface="Trebuchet MS"/>
              </a:rPr>
              <a:t>0.65%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61220" y="1371600"/>
            <a:ext cx="180594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2660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$ AT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2660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rebuchet MS"/>
              </a:rPr>
              <a:t>$238,586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377440"/>
            <a:ext cx="6600139" cy="21945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3428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6777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0126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3475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Shrink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06824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O&amp;D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0172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Coupon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3521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6870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Other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2596896"/>
            <a:ext cx="6600139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" y="2633472"/>
            <a:ext cx="228600" cy="137160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151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3428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#223 Dublin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6777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0126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$37,998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46043" y="2615184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73475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9392" y="2615184"/>
            <a:ext cx="696772" cy="173736"/>
          </a:xfrm>
          <a:prstGeom prst="rect">
            <a:avLst/>
          </a:prstGeom>
          <a:solidFill>
            <a:srgbClr val="F8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06824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2.65%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0172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73521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6870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2807208"/>
            <a:ext cx="6600139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" y="2843784"/>
            <a:ext cx="228600" cy="137160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" y="2825496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3428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#229 Plymouth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06777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40126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$41,559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46043" y="2825496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73475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0.96%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9392" y="2825496"/>
            <a:ext cx="696772" cy="173736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06824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1.81%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40172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73521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0.20%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06870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0.78%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3017520"/>
            <a:ext cx="6600139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2648" y="3054096"/>
            <a:ext cx="228600" cy="137160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648" y="303580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3428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#91 Manchester 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06777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40126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$35,368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46043" y="3035808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73475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06824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1.77%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40172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0.88%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73521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0.28%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06870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0.56%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" y="3227832"/>
            <a:ext cx="6600139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648" y="3264408"/>
            <a:ext cx="228600" cy="137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2648" y="32461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73428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#236 Dover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06777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40126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$110,723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46043" y="3246120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73475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0.95%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06824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2.12%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40172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0.71%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746089" y="3246120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73521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0.59%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06870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" y="3438144"/>
            <a:ext cx="6600139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2648" y="3474720"/>
            <a:ext cx="228600" cy="137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2648" y="345643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3428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#51 Waterbury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06777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40126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$24,111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46043" y="3456432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73475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6824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2.14%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40172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73521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0.26%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06870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94360" y="3648456"/>
            <a:ext cx="6600139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2648" y="3685032"/>
            <a:ext cx="228600" cy="137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2648" y="366674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73428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#107 Windham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06777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840126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$23,302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546043" y="3666744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573475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0.92%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306824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2.12%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012740" y="3666744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040172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1.08%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73521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0.33%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06870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0.61%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94360" y="3858768"/>
            <a:ext cx="6600139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12648" y="3895344"/>
            <a:ext cx="228600" cy="137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2648" y="3877056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73428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#33 Great Barrin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06777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840126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$23,334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46043" y="3877056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573475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0.91%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306824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2.07%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012740" y="3877056"/>
            <a:ext cx="696772" cy="173736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040172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0.64%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773521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0.32%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506870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0.86%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94360" y="4069080"/>
            <a:ext cx="6600139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12648" y="4105656"/>
            <a:ext cx="228600" cy="13716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12648" y="408736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73428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#155 Sandwich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106777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840126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$22,347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546043" y="4087368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573475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0.90%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279392" y="4087368"/>
            <a:ext cx="696772" cy="173736"/>
          </a:xfrm>
          <a:prstGeom prst="rect">
            <a:avLst/>
          </a:prstGeom>
          <a:solidFill>
            <a:srgbClr val="B8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306824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1.28%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40172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0.99%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46089" y="4087368"/>
            <a:ext cx="696772" cy="173736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773521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0.16%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479438" y="4087368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506870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0.92%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94360" y="4279392"/>
            <a:ext cx="6600139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12648" y="4315968"/>
            <a:ext cx="228600" cy="13716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12648" y="429768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373428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#164 Buxton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06777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840126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$33,478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546043" y="4297680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573475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0.90%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279392" y="4297680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306824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2.28%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40172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0.82%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773521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0.29%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506870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0.56%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94360" y="4489704"/>
            <a:ext cx="6600139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2648" y="4526280"/>
            <a:ext cx="228600" cy="13716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12648" y="450799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373428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#100 Milton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106777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840126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$20,400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546043" y="4507992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573475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0.88%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306824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2.01%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012740" y="4507992"/>
            <a:ext cx="696772" cy="173736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040172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0.61%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773521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0.33%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479438" y="4507992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06870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0.91%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285939" y="2377440"/>
            <a:ext cx="4326940" cy="21945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377379" y="2395728"/>
            <a:ext cx="414406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REASON CODE $ - LAST WEEK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331659" y="265176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1 Miss Mark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748979" y="2679192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748979" y="2679192"/>
            <a:ext cx="1224736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515600" y="265176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$82,450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331659" y="285292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4 Disc Sell Off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48979" y="2880360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748979" y="2880360"/>
            <a:ext cx="1766620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0515600" y="285292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$118,930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331659" y="305409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9 Dated Product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748979" y="3081528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748979" y="3081528"/>
            <a:ext cx="701271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0515600" y="305409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$47,210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331659" y="325526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13 Price Match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748979" y="3282696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748979" y="3282696"/>
            <a:ext cx="1399571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515600" y="3255264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$94,220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331659" y="345643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14 Expired Reward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748979" y="3483864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748979" y="3483864"/>
            <a:ext cx="417999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0515600" y="345643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$28,140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331659" y="365760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15 New HTP / HTH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748979" y="3685032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748979" y="3685032"/>
            <a:ext cx="990781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0515600" y="365760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$66,700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331659" y="385876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33 Package Pricin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748979" y="3886200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748979" y="3886200"/>
            <a:ext cx="591943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515600" y="385876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$39,850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331659" y="405993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34 Discount Code 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748979" y="4087368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748979" y="4087368"/>
            <a:ext cx="833622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515600" y="405993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$56,120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Company View . HTML: LP_Dashboard_Variant_B_Leaderboard.html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Manager View: Single-Store Drilldown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Store picker at top jumps between all 136 stores. Dark header strip + five KPI tiles + reason codes and self-checkout flags for that store.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74552" cy="5074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1100023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4475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STORE: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426464"/>
            <a:ext cx="3657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016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4447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Calibri"/>
              </a:rPr>
              <a:t>#155 - SANDWICH, MA - (IND)  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444752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1">
                <a:solidFill>
                  <a:srgbClr val="5A5A5A"/>
                </a:solidFill>
                <a:latin typeface="Calibri"/>
              </a:rPr>
              <a:t>Week of Apr 5 – Apr 11, 2026 (Last Trade Week)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874520"/>
            <a:ext cx="11000232" cy="7772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#155 SANDWICH, MA - (IND)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3172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Sandwich, MA  ·  Tier 5  ·  Mgr: Andrew  Snell  ·  Team 1 (Schlenner)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96596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alibri"/>
              </a:rPr>
              <a:t>WEEKLY NET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1488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rebuchet MS"/>
              </a:rPr>
              <a:t>$22,347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196596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alibri"/>
              </a:rPr>
              <a:t>$ AT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1488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rebuchet MS"/>
              </a:rPr>
              <a:t>$744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9" y="196596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alibri"/>
              </a:rPr>
              <a:t>TIER RANK (SHRINK)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59" y="21488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8220"/>
                </a:solidFill>
                <a:latin typeface="Trebuchet MS"/>
              </a:rPr>
              <a:t>#4 of 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88920"/>
            <a:ext cx="209031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2880360"/>
            <a:ext cx="187086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SHRINK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063240"/>
            <a:ext cx="187086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Trebuchet MS"/>
              </a:rPr>
              <a:t>0.90%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502152"/>
            <a:ext cx="187086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$201 this 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73989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EC1C24"/>
                </a:solidFill>
                <a:latin typeface="Calibri"/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3739896"/>
            <a:ext cx="167883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Tier: 0.58%  (+0.32pt)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21838" y="2788920"/>
            <a:ext cx="209031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31566" y="2880360"/>
            <a:ext cx="187086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OVERRIDES &amp; DISC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1566" y="3063240"/>
            <a:ext cx="187086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Trebuchet MS"/>
              </a:rPr>
              <a:t>1.28%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31566" y="3502152"/>
            <a:ext cx="187086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$286 this 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31566" y="373989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1683F"/>
                </a:solidFill>
                <a:latin typeface="Calibri"/>
              </a:rPr>
              <a:t>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69310" y="3739896"/>
            <a:ext cx="167883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Tier: 2.00%  (-0.72pt)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3596" y="2788920"/>
            <a:ext cx="209031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13324" y="2880360"/>
            <a:ext cx="187086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COUPONS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13324" y="3063240"/>
            <a:ext cx="187086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Trebuchet MS"/>
              </a:rPr>
              <a:t>0.99%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3324" y="3502152"/>
            <a:ext cx="187086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$221 this week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3324" y="373989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EC1C24"/>
                </a:solidFill>
                <a:latin typeface="Calibri"/>
              </a:rPr>
              <a:t>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1068" y="3739896"/>
            <a:ext cx="167883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Tier: 0.85%  (+0.14pt)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85355" y="2788920"/>
            <a:ext cx="209031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5083" y="2880360"/>
            <a:ext cx="187086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EMPLOYEE DISC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95083" y="3063240"/>
            <a:ext cx="187086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Trebuchet MS"/>
              </a:rPr>
              <a:t>0.16%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95083" y="3502152"/>
            <a:ext cx="187086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$36 this week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5083" y="373989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01683F"/>
                </a:solidFill>
                <a:latin typeface="Calibri"/>
              </a:rPr>
              <a:t>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2827" y="3739896"/>
            <a:ext cx="167883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Tier: 0.35%  (-0.19pt)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67113" y="2788920"/>
            <a:ext cx="209031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76841" y="2880360"/>
            <a:ext cx="187086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OTHER (%RETAIL)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6841" y="3063240"/>
            <a:ext cx="187086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Trebuchet MS"/>
              </a:rPr>
              <a:t>0.92%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6841" y="373989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EC1C24"/>
                </a:solidFill>
                <a:latin typeface="Calibri"/>
              </a:rPr>
              <a:t>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4585" y="3739896"/>
            <a:ext cx="167883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Tier: 0.68%  (+0.24pt)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4114800"/>
            <a:ext cx="5999835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4151376"/>
            <a:ext cx="5816955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REASON CODES - THIS STORE'S SHARE OF O&amp;D $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44348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1 Miss Mark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4471416"/>
            <a:ext cx="3302355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57400" y="4471416"/>
            <a:ext cx="2384495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59755" y="44348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$187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465429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4 Disc Sell Off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4690872"/>
            <a:ext cx="3302355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057400" y="4690872"/>
            <a:ext cx="3439515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59755" y="465429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$270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487375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9 Dated Product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57400" y="4910328"/>
            <a:ext cx="3302355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057400" y="4910328"/>
            <a:ext cx="1365337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59755" y="48737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$107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509320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13 Price Match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5129784"/>
            <a:ext cx="3302355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057400" y="5129784"/>
            <a:ext cx="2724889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59755" y="50932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$214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531266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14 Expired Reward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57400" y="5349240"/>
            <a:ext cx="3302355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57400" y="5349240"/>
            <a:ext cx="813822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59755" y="5312664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$64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5321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15 New HTP / HTH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57400" y="5568696"/>
            <a:ext cx="3302355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057400" y="5568696"/>
            <a:ext cx="1928997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59755" y="553212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$152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31355" y="4114800"/>
            <a:ext cx="4817516" cy="256032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22795" y="4151376"/>
            <a:ext cx="463463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POS SELF-CHECKOUT FLAGS (STORE-LEVEL)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22795" y="443484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E1E1E"/>
                </a:solidFill>
                <a:latin typeface="Calibri"/>
              </a:rPr>
              <a:t>Andrew  Snell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68715" y="443484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8 txns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00235" y="44348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$247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40315" y="4434840"/>
            <a:ext cx="161711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1">
                <a:solidFill>
                  <a:srgbClr val="EC1C24"/>
                </a:solidFill>
                <a:latin typeface="Calibri"/>
              </a:rPr>
              <a:t>Mgr override on own ring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22795" y="4654296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E1E1E"/>
                </a:solidFill>
                <a:latin typeface="Calibri"/>
              </a:rPr>
              <a:t>J. Milosky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68715" y="465429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5 txns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00235" y="465429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$164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40315" y="4654296"/>
            <a:ext cx="161711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1">
                <a:solidFill>
                  <a:srgbClr val="EC1C24"/>
                </a:solidFill>
                <a:latin typeface="Calibri"/>
              </a:rPr>
              <a:t>Employee disc on own ring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22795" y="487375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E1E1E"/>
                </a:solidFill>
                <a:latin typeface="Calibri"/>
              </a:rPr>
              <a:t>R. Gagnon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68715" y="487375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3 txns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00235" y="48737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$94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840315" y="4873752"/>
            <a:ext cx="161711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1">
                <a:solidFill>
                  <a:srgbClr val="EC1C24"/>
                </a:solidFill>
                <a:latin typeface="Calibri"/>
              </a:rPr>
              <a:t>Price match on own ring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Manager View . HTML: LP_Dashboard_Per_Store.html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Which view fits which audience?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Both views share the same data model - they live side by side in YODA as two pages of one LP section.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522716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5227167" cy="77724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35608"/>
            <a:ext cx="467852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Company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73352"/>
            <a:ext cx="4678527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Team Scorecard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4678527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for senior team &amp; field leaders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79192"/>
            <a:ext cx="109728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624328"/>
            <a:ext cx="4495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Ranks all 136 stores worst-to-best on shrink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090672"/>
            <a:ext cx="109728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35808"/>
            <a:ext cx="4495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Red/yellow/green rank badges for top-10 offenders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502152"/>
            <a:ext cx="109728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47288"/>
            <a:ext cx="4495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All five KPIs visible in one row per 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13632"/>
            <a:ext cx="109728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58768"/>
            <a:ext cx="4495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Reason codes as horizontal bars (quick scan)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25112"/>
            <a:ext cx="109728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270248"/>
            <a:ext cx="4495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Company $-at-risk number front and center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937760"/>
            <a:ext cx="4769967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001768"/>
            <a:ext cx="4495647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Use when the team sets weekly priorities - who needs coaching this week?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8727" y="1325880"/>
            <a:ext cx="522716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8727" y="1325880"/>
            <a:ext cx="5227167" cy="7772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047" y="1435608"/>
            <a:ext cx="467852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Manager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047" y="1673352"/>
            <a:ext cx="4678527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Single-Store Drilldown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3047" y="2240280"/>
            <a:ext cx="4678527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manager's Monday-morning 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8767" y="2679192"/>
            <a:ext cx="109728" cy="10972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1647" y="2624328"/>
            <a:ext cx="4495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Store picker jumps between any of 136 stores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98767" y="3090672"/>
            <a:ext cx="109728" cy="10972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1647" y="3035808"/>
            <a:ext cx="4495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Big KPI tiles with tier-variance arrows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98767" y="3502152"/>
            <a:ext cx="109728" cy="10972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1647" y="3447288"/>
            <a:ext cx="4495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Reason codes attributed to THIS store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98767" y="3913632"/>
            <a:ext cx="109728" cy="10972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1647" y="3858768"/>
            <a:ext cx="4495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Self-checkout watchlist for THIS store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98767" y="4325112"/>
            <a:ext cx="109728" cy="10972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1647" y="4270248"/>
            <a:ext cx="4495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Full tier-benchmark detail with status labels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07327" y="4937760"/>
            <a:ext cx="4769967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44487" y="5001768"/>
            <a:ext cx="4495647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Use when a store manager opens it Monday to see THEIR numbers.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1683F"/>
                </a:solidFill>
                <a:latin typeface="Calibri"/>
              </a:rPr>
              <a:t>Recommendation: build both. They're two facets of the same data - a company tab (Team Scorecard) and a per-store tab (Manager View). One build, two pages.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Open the HTML files alongside this deck to see the live mockups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What we need from you to go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The visual is 90% of the work - data decisions are the other 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76656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6766560" cy="45720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rebuchet MS"/>
              </a:rPr>
              <a:t>Open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47672"/>
            <a:ext cx="320040" cy="32004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293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92808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Calibri"/>
              </a:rPr>
              <a:t>Shrink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30552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Calibri"/>
              </a:rPr>
              <a:t>Is shrink coming from physical inventory adjustments, or do we tag specific POS transactions as shrink? (affects data pipeline)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877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551176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Calibri"/>
              </a:rPr>
              <a:t>Tier benchmarks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78892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Calibri"/>
              </a:rPr>
              <a:t>Should tier averages be rolling 4-week or rolling 13-week? Recomputed daily or weekly?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64408"/>
            <a:ext cx="320040" cy="32004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461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209544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Calibri"/>
              </a:rPr>
              <a:t>Employee discount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47288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Calibri"/>
              </a:rPr>
              <a:t>Include employee-category customers only, or also their family/friends transactions?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22776"/>
            <a:ext cx="320040" cy="32004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044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867912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Calibri"/>
              </a:rPr>
              <a:t>'Everything else' definition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105656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Calibri"/>
              </a:rPr>
              <a:t>What goes in the 5th bucket - line-item discounts not captured above, or specifically marketing/promo lines?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581144"/>
            <a:ext cx="320040" cy="32004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6285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526280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Calibri"/>
              </a:rPr>
              <a:t>Self-checkout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764024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Calibri"/>
              </a:rPr>
              <a:t>Which conditions trigger a watchlist entry (emp disc on own ring, mgr override on own ring, price match on own ring, all?)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39512"/>
            <a:ext cx="320040" cy="32004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2212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184648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Calibri"/>
              </a:rPr>
              <a:t>Time periods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422392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Calibri"/>
              </a:rPr>
              <a:t>Default view = last trade week, or MTD? Who needs to change it?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1280160"/>
            <a:ext cx="4236415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98080" y="1280160"/>
            <a:ext cx="4236415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80" y="1371600"/>
            <a:ext cx="3779215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rebuchet MS"/>
              </a:rPr>
              <a:t>Proposed path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1947672"/>
            <a:ext cx="365760" cy="36576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19476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1892808"/>
            <a:ext cx="3230575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Calibri"/>
              </a:rPr>
              <a:t>Answer the 6 questions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2130552"/>
            <a:ext cx="323057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Calibri"/>
              </a:rPr>
              <a:t>Left column - these drive the DAX.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2697480"/>
            <a:ext cx="365760" cy="36576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26974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2642616"/>
            <a:ext cx="3230575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Calibri"/>
              </a:rPr>
              <a:t>Build DAX measures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2880360"/>
            <a:ext cx="323057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Calibri"/>
              </a:rPr>
              <a:t>Shrink %, O&amp;D %, Coupon %, Emp Disc %, tier-avg variants in YODA.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3447288"/>
            <a:ext cx="365760" cy="36576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3447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3392424"/>
            <a:ext cx="3230575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Calibri"/>
              </a:rPr>
              <a:t>Wire up the two pages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3630168"/>
            <a:ext cx="323057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Calibri"/>
              </a:rPr>
              <a:t>Add 'Loss Prevention' section with a Team Scorecard tab and a Manager View tab.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4197096"/>
            <a:ext cx="365760" cy="36576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41970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4142232"/>
            <a:ext cx="3230575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Calibri"/>
              </a:rPr>
              <a:t>Pilot with one team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4379976"/>
            <a:ext cx="323057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Calibri"/>
              </a:rPr>
              <a:t>Team 1 or Team 2 for 2 weeks - tweak, then roll out.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4946904"/>
            <a:ext cx="365760" cy="36576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0" y="49469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4892040"/>
            <a:ext cx="3230575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Calibri"/>
              </a:rPr>
              <a:t>Company-wide launch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5129784"/>
            <a:ext cx="323057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Calibri"/>
              </a:rPr>
              <a:t>All store managers + field leaders get the Manager View bookmarked.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26680" y="5486400"/>
            <a:ext cx="37792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26680" y="5532120"/>
            <a:ext cx="377921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EC1C24"/>
                </a:solidFill>
                <a:latin typeface="Trebuchet MS"/>
              </a:rPr>
              <a:t>Target: live in YODA by end of May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LP Dashboard . Design Concepts . April 15,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